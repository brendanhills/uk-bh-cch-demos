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A73E8"/>
                </a:solidFill>
                <a:latin typeface="Arial"/>
              </a:rPr>
              <a:t>Elevating Pediatric Home Care</a:t>
            </a:r>
          </a:p>
          <a:p>
            <a:r>
              <a:rPr sz="1100">
                <a:solidFill>
                  <a:srgbClr val="5F6368"/>
                </a:solidFill>
                <a:latin typeface="Arial"/>
              </a:rPr>
              <a:t>Moving from theory to practice for Cymbal Children's Hospital Home Care Concierge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000" b="1">
                <a:solidFill>
                  <a:srgbClr val="1A73E8"/>
                </a:solidFill>
                <a:latin typeface="Arial"/>
              </a:rPr>
              <a:t>DEMO 1</a:t>
            </a:r>
          </a:p>
          <a:p>
            <a:r>
              <a:rPr sz="2800" b="1">
                <a:solidFill>
                  <a:srgbClr val="202124"/>
                </a:solidFill>
                <a:latin typeface="Arial"/>
              </a:rPr>
              <a:t>Bridging the gap between </a:t>
            </a:r>
            <a:r>
              <a:rPr sz="2800" b="1">
                <a:solidFill>
                  <a:srgbClr val="1A73E8"/>
                </a:solidFill>
                <a:latin typeface="Arial"/>
              </a:rPr>
              <a:t>hospital discharge </a:t>
            </a:r>
            <a:r>
              <a:rPr sz="2800" b="1">
                <a:solidFill>
                  <a:srgbClr val="202124"/>
                </a:solidFill>
                <a:latin typeface="Arial"/>
              </a:rPr>
              <a:t>and home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645920"/>
            <a:ext cx="5212080" cy="411480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66344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600"/>
              </a:spcAft>
            </a:pPr>
            <a:r>
              <a:rPr sz="1100" b="1">
                <a:solidFill>
                  <a:srgbClr val="1A73E8"/>
                </a:solidFill>
                <a:latin typeface="Arial"/>
              </a:rPr>
              <a:t>💬  SCENARIO</a:t>
            </a:r>
          </a:p>
          <a:p>
            <a:pPr>
              <a:spcAft>
                <a:spcPts val="2400"/>
              </a:spcAft>
            </a:pPr>
            <a:r>
              <a:rPr sz="1350">
                <a:solidFill>
                  <a:srgbClr val="202124"/>
                </a:solidFill>
                <a:latin typeface="Arial"/>
              </a:rPr>
              <a:t>A family is managing a child's home recovery from Asthma/RSV, facing complex discharge instructions, specialized nurse scheduling friction, and financial confusion during high-stress recovery.</a:t>
            </a:r>
          </a:p>
          <a:p>
            <a:r>
              <a:rPr sz="1350" b="1">
                <a:solidFill>
                  <a:srgbClr val="1A73E8"/>
                </a:solidFill>
                <a:latin typeface="Arial"/>
              </a:rPr>
              <a:t>How can Gemini Live native audio and agentic workflows transform post-discharge recovery into seamless, connected care?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4415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2200" b="1">
                <a:solidFill>
                  <a:srgbClr val="1A73E8"/>
                </a:solidFill>
                <a:latin typeface="Arial"/>
              </a:rPr>
              <a:t>Clinical Voice &amp; Care Coordination Pipeline</a:t>
            </a:r>
          </a:p>
          <a:p>
            <a:r>
              <a:rPr sz="1100">
                <a:solidFill>
                  <a:srgbClr val="5F6368"/>
                </a:solidFill>
                <a:latin typeface="Arial"/>
              </a:rPr>
              <a:t>Real-time consultation, automated subsidy booking &amp; hospital EMR documentation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5603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2560320" cy="109728"/>
          </a:xfrm>
          <a:prstGeom prst="rect">
            <a:avLst/>
          </a:prstGeom>
          <a:solidFill>
            <a:srgbClr val="1A7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600200"/>
            <a:ext cx="230428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1A73E8"/>
                </a:solidFill>
                <a:latin typeface="Arial"/>
              </a:rPr>
              <a:t>🎙️  01 / Hearing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Speech &amp; Intake Capture</a:t>
            </a:r>
          </a:p>
          <a:p>
            <a:pPr>
              <a:spcAft>
                <a:spcPts val="1200"/>
              </a:spcAft>
            </a:pPr>
            <a:r>
              <a:rPr sz="850" b="1">
                <a:solidFill>
                  <a:srgbClr val="1A73E8"/>
                </a:solidFill>
                <a:latin typeface="Courier New"/>
              </a:rPr>
              <a:t>gemini-2.5-flash-native-audio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Captures native speech-to-speech (&lt;0.9s latency)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Parses uploaded discharge summaries &amp; PDFs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Affective Dialog detects parental stress tone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92424" y="1371600"/>
            <a:ext cx="25603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92424" y="1371600"/>
            <a:ext cx="2560320" cy="10972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600200"/>
            <a:ext cx="230428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34A853"/>
                </a:solidFill>
                <a:latin typeface="Arial"/>
              </a:rPr>
              <a:t>🌐  02 / Simplifying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Jargon &amp; Translation</a:t>
            </a:r>
          </a:p>
          <a:p>
            <a:pPr>
              <a:spcAft>
                <a:spcPts val="1200"/>
              </a:spcAft>
            </a:pPr>
            <a:r>
              <a:rPr sz="850" b="1">
                <a:solidFill>
                  <a:srgbClr val="34A853"/>
                </a:solidFill>
                <a:latin typeface="Courier New"/>
              </a:rPr>
              <a:t>gemini-live-api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Multi-lingual support across global languages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Simplifies complex spacer dosing for laypersons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Grounded queries bypass AI hallucination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371600"/>
            <a:ext cx="25603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371600"/>
            <a:ext cx="2560320" cy="109728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600200"/>
            <a:ext cx="230428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FBBC05"/>
                </a:solidFill>
                <a:latin typeface="Arial"/>
              </a:rPr>
              <a:t>🔊  03 / Actioning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Care &amp; Subsidy Booking</a:t>
            </a:r>
          </a:p>
          <a:p>
            <a:pPr>
              <a:spcAft>
                <a:spcPts val="1200"/>
              </a:spcAft>
            </a:pPr>
            <a:r>
              <a:rPr sz="850" b="1">
                <a:solidFill>
                  <a:srgbClr val="FBBC05"/>
                </a:solidFill>
                <a:latin typeface="Courier New"/>
              </a:rPr>
              <a:t>google-adk-toolkit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Calculates home visit costs &amp; NDIS subsidies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Books specialized home care nurse slots in-call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Instant emergency 000 triage safety intercept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9992" y="1371600"/>
            <a:ext cx="2560320" cy="484632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ADC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079992" y="1371600"/>
            <a:ext cx="2560320" cy="109728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08008" y="1600200"/>
            <a:ext cx="2304288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1000" b="1">
                <a:solidFill>
                  <a:srgbClr val="EA4335"/>
                </a:solidFill>
                <a:latin typeface="Arial"/>
              </a:rPr>
              <a:t>📄  04 / Documenting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02124"/>
                </a:solidFill>
                <a:latin typeface="Arial"/>
              </a:rPr>
              <a:t>EMR SOAP Integration</a:t>
            </a:r>
          </a:p>
          <a:p>
            <a:pPr>
              <a:spcAft>
                <a:spcPts val="1200"/>
              </a:spcAft>
            </a:pPr>
            <a:r>
              <a:rPr sz="850" b="1">
                <a:solidFill>
                  <a:srgbClr val="EA4335"/>
                </a:solidFill>
                <a:latin typeface="Courier New"/>
              </a:rPr>
              <a:t>cch-clinical-emr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Syncs home vital logs &amp; visit notes in real-time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Commits approved funding records to central EMR</a:t>
            </a:r>
          </a:p>
          <a:p>
            <a:pPr>
              <a:spcAft>
                <a:spcPts val="800"/>
              </a:spcAft>
            </a:pPr>
            <a:r>
              <a:rPr sz="950">
                <a:solidFill>
                  <a:srgbClr val="5F6368"/>
                </a:solidFill>
                <a:latin typeface="Arial"/>
              </a:rPr>
              <a:t>• Generates interactive patient recovery summaries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